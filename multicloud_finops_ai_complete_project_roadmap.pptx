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572000" cy="4572000"/>
          </a:xfrm>
          <a:prstGeom prst="ellipse">
            <a:avLst/>
          </a:prstGeom>
          <a:solidFill>
            <a:srgbClr val="193D69">
              <a:alpha val="70000"/>
            </a:srgbClr>
          </a:solidFill>
          <a:ln w="12700">
            <a:solidFill>
              <a:srgbClr val="193D6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51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31520" y="1938528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AWS + GCP cost visibility, forecasting, and optimization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58952" y="3154680"/>
            <a:ext cx="1188720" cy="365760"/>
          </a:xfrm>
          <a:prstGeom prst="roundRect">
            <a:avLst>
              <a:gd name="adj" fmla="val 30000"/>
            </a:avLst>
          </a:prstGeom>
          <a:solidFill>
            <a:srgbClr val="1C2D49"/>
          </a:solidFill>
          <a:ln w="12700">
            <a:solidFill>
              <a:srgbClr val="1C2D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20954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84832" y="315468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1C2D49"/>
          </a:solidFill>
          <a:ln w="12700">
            <a:solidFill>
              <a:srgbClr val="1C2D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320954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3154680"/>
            <a:ext cx="2834640" cy="365760"/>
          </a:xfrm>
          <a:prstGeom prst="roundRect">
            <a:avLst>
              <a:gd name="adj" fmla="val 30000"/>
            </a:avLst>
          </a:prstGeom>
          <a:solidFill>
            <a:srgbClr val="1C2D49"/>
          </a:solidFill>
          <a:ln w="12700">
            <a:solidFill>
              <a:srgbClr val="1C2D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3209544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MAAS · GPT-4o MINI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15468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1C2D49"/>
          </a:solidFill>
          <a:ln w="12700">
            <a:solidFill>
              <a:srgbClr val="1C2D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0216" y="320954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5212080"/>
            <a:ext cx="9144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implementation • architecture • AI economics • delivery roadmap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9808" y="6080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691640"/>
            <a:ext cx="54864" cy="3429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8745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1248" y="2404872"/>
            <a:ext cx="312724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and GCP billing, resource assumptions, and optimization decisions often sit in separate tools.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15968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1691640"/>
            <a:ext cx="54864" cy="342900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18745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35424" y="2404872"/>
            <a:ext cx="312724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Streamlit dashboard for synthetic multicloud spend, explainable forecasts, AI analysis and scenario testing.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0144" y="1691640"/>
            <a:ext cx="3566160" cy="3429000"/>
          </a:xfrm>
          <a:prstGeom prst="roundRect">
            <a:avLst>
              <a:gd name="adj" fmla="val 3200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0144" y="1691640"/>
            <a:ext cx="54864" cy="3429000"/>
          </a:xfrm>
          <a:prstGeom prst="rect">
            <a:avLst/>
          </a:prstGeom>
          <a:solidFill>
            <a:srgbClr val="5BE3B1"/>
          </a:solidFill>
          <a:ln w="12700">
            <a:solidFill>
              <a:srgbClr val="5BE3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8745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29600" y="2404872"/>
            <a:ext cx="312724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demonstrable FinOps workflow with budget alerts, AI usage controls and a path to production data.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" y="5779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 •  WORKING DEMO, NOT YET LIVE CLOUD BILLING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have implemented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" y="172821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60020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Consolidated AWS + GCP spending for sample departments/accounts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4944" y="2377440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249424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30-, 90- and 180-day filters, historical trends and service breakdowns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94944" y="3026664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898648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budgets with period-aware allocation and comparison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94944" y="367588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547872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History-based cost forecasts with supporting evidence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94944" y="4325112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19709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recommendations + What-If Simulator + traffic capacity warnings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94944" y="497433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484632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 budget alerts, AI token tracking, response cache and cost alerts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architecture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" y="1691640"/>
            <a:ext cx="3493008" cy="1307592"/>
          </a:xfrm>
          <a:prstGeom prst="roundRect">
            <a:avLst>
              <a:gd name="adj" fmla="val 8392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562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UI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9808" y="2331720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 • charts • alert settings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1688" y="1691640"/>
            <a:ext cx="3493008" cy="1307592"/>
          </a:xfrm>
          <a:prstGeom prst="roundRect">
            <a:avLst>
              <a:gd name="adj" fmla="val 8392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562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analytics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26280" y="2331720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Spend, growth, forecasting, scenarios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93008" cy="1307592"/>
          </a:xfrm>
          <a:prstGeom prst="roundRect">
            <a:avLst>
              <a:gd name="adj" fmla="val 8392"/>
            </a:avLst>
          </a:prstGeom>
          <a:solidFill>
            <a:srgbClr val="1B3A52"/>
          </a:solidFill>
          <a:ln w="12700">
            <a:solidFill>
              <a:srgbClr val="1B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8562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MaaS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02752" y="2331720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GPT-4o Mini via enterprise endpoint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41448" y="4251960"/>
            <a:ext cx="4343400" cy="1307592"/>
          </a:xfrm>
          <a:prstGeom prst="roundRect">
            <a:avLst>
              <a:gd name="adj" fmla="val 8392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441655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606040" y="4892040"/>
            <a:ext cx="3950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usage + cache + alert state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59168" y="4251960"/>
            <a:ext cx="4343400" cy="1307592"/>
          </a:xfrm>
          <a:prstGeom prst="roundRect">
            <a:avLst>
              <a:gd name="adj" fmla="val 8392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441655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223760" y="4892040"/>
            <a:ext cx="3950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and AI-cost notifications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Flow: dashboard → deterministic Python calculations → optional AI explanation → local persistence / alerts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billing &amp; financial overview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82496"/>
            <a:ext cx="5413248" cy="3337560"/>
          </a:xfrm>
          <a:prstGeom prst="roundRect">
            <a:avLst>
              <a:gd name="adj" fmla="val 3288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82496"/>
            <a:ext cx="54864" cy="333756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65376"/>
            <a:ext cx="5001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in the dashboard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395728"/>
            <a:ext cx="49743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AWS/GCP cloud and service costs; account / department filters; spend trends; previous-period comparisons; budget used, remaining and allocated.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0488" y="1682496"/>
            <a:ext cx="5358384" cy="3337560"/>
          </a:xfrm>
          <a:prstGeom prst="roundRect">
            <a:avLst>
              <a:gd name="adj" fmla="val 3288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0488" y="1682496"/>
            <a:ext cx="54864" cy="33375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865376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accounting logic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9944" y="2395728"/>
            <a:ext cx="491947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 allocation = monthly budget × selected days ÷ 30. Use the selected period, not a misleading full-month denominator.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" y="5623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DATA: Synthetic billing history is generated locally; it is not connected to live AWS Cost Explorer or GCP Billing Export.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Forecasting: mathematical engine first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4708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719072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ledger drives selected future 30-, 90- or 180-day cost outlooks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2615184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48716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evidence: expected daily costs, service mix and period slices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3255264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with actual spending and historical windows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20" y="415137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402336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computes the numbers; AI explains possible drivers and actions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919472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4791456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Forecasts are scenario estimates—not guaranteed bills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recommendations: what actually happens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3429000" cy="3511296"/>
          </a:xfrm>
          <a:prstGeom prst="roundRect">
            <a:avLst>
              <a:gd name="adj" fmla="val 3200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691640"/>
            <a:ext cx="54864" cy="3511296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Context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77824" y="2404872"/>
            <a:ext cx="299008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prepares filtered spending, infrastructure assumptions, inventory and utilization context.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79976" y="1691640"/>
            <a:ext cx="3429000" cy="3511296"/>
          </a:xfrm>
          <a:prstGeom prst="roundRect">
            <a:avLst>
              <a:gd name="adj" fmla="val 3200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9976" y="1691640"/>
            <a:ext cx="54864" cy="3511296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AI call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99432" y="2404872"/>
            <a:ext cx="299008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GenAI configuration invokes the enterprise endpoint when the user clicks analysis.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10728" y="1691640"/>
            <a:ext cx="3429000" cy="3511296"/>
          </a:xfrm>
          <a:prstGeom prst="roundRect">
            <a:avLst>
              <a:gd name="adj" fmla="val 3200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0728" y="1691640"/>
            <a:ext cx="54864" cy="3511296"/>
          </a:xfrm>
          <a:prstGeom prst="rect">
            <a:avLst/>
          </a:prstGeom>
          <a:solidFill>
            <a:srgbClr val="5BE3B1"/>
          </a:solidFill>
          <a:ln w="12700">
            <a:solidFill>
              <a:srgbClr val="5BE3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18745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Response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30184" y="2404872"/>
            <a:ext cx="299008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Recommendations, risk, priority, confidence and estimated savings are presented for review.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" y="5705856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is not continuously analyzing in the background. Python logic and fallback paths remain separate from live model responses.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What-If Simulator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4088" y="175564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current provider, region, instance family and fleet count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4088" y="239572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26771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proposed instance type and future fleet size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04088" y="303580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0779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 supplies synthetic hourly prices; costs use assumed run hours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4088" y="367588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54787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Manually specify request capacity per instance per day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04088" y="431596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18795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30-day traffic using synthetic history and weekday patterns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04088" y="495604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82803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 if forecast demand exceeds the capacity assumption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04088" y="559612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5468112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describes cost, capacity and operational trade-offs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Budgets and notifications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709928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709928"/>
            <a:ext cx="54864" cy="338328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8928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spend alerts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1248" y="2423160"/>
            <a:ext cx="500176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settings by recipient; manual check-and-send; SMTP Gmail App Password; SQLite-based duplicate-prevention / history.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1344" y="1709928"/>
            <a:ext cx="5349240" cy="3383280"/>
          </a:xfrm>
          <a:prstGeom prst="roundRect">
            <a:avLst>
              <a:gd name="adj" fmla="val 3243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1709928"/>
            <a:ext cx="54864" cy="338328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92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budget alerts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0" y="2423160"/>
            <a:ext cx="49103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estimated AI budget, percentage threshold, optional token threshold; app checks on new AI calls and through manual checks.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56967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limit: email checks are application-triggered; when Streamlit is offline, there is no autonomous monitoring.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DETAILS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configuration: GenAI MaaS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645920"/>
            <a:ext cx="5422392" cy="3547872"/>
          </a:xfrm>
          <a:prstGeom prst="roundRect">
            <a:avLst>
              <a:gd name="adj" fmla="val 3093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645920"/>
            <a:ext cx="54864" cy="3547872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828800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by user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1248" y="2359152"/>
            <a:ext cx="498348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model family: GPT-4o Mini, accessed through an enterprise GenAI MaaS gateway. The exact deployment identifier must match its provider configuration.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0488" y="1645920"/>
            <a:ext cx="5349240" cy="3547872"/>
          </a:xfrm>
          <a:prstGeom prst="roundRect">
            <a:avLst>
              <a:gd name="adj" fmla="val 3093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0488" y="1645920"/>
            <a:ext cx="54864" cy="3547872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828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integration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9944" y="2359152"/>
            <a:ext cx="491032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GENAI_BASE_URL sets endpoint; GENAI_API_KEY authenticates; GENAI_MODEL selects deployment. AI actions invoke the API from Python.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" y="5742432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example azure/genailab-maas-gpt-35-turbo is GPT-3.5 naming. Do not assume it selects GPT-4o Mini.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UNIT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GPT-4o Mini: published public API prices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3538728" cy="2011680"/>
          </a:xfrm>
          <a:prstGeom prst="roundRect">
            <a:avLst>
              <a:gd name="adj" fmla="val 5455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$0.15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896112" y="3017520"/>
            <a:ext cx="3035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/ 1M TOKENS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828800"/>
            <a:ext cx="3538728" cy="2011680"/>
          </a:xfrm>
          <a:prstGeom prst="roundRect">
            <a:avLst>
              <a:gd name="adj" fmla="val 5455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$0.075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4736592" y="3017520"/>
            <a:ext cx="3035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CACHED INPUT / 1M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1828800"/>
            <a:ext cx="3538728" cy="2011680"/>
          </a:xfrm>
          <a:prstGeom prst="roundRect">
            <a:avLst>
              <a:gd name="adj" fmla="val 5455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7072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5B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$0.60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8577072" y="3017520"/>
            <a:ext cx="3035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/ 1M TOKENS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" y="46451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OpenAI model pricing page and Microsoft Azure global pay-as-you-go announcement.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" y="5303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VERIFIED FOR YOUR ORGANIZATION: GenAI MaaS may charge different negotiated or internal rates.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Per-request cost: worked example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10890504" cy="4206240"/>
          </a:xfrm>
          <a:prstGeom prst="roundRect">
            <a:avLst>
              <a:gd name="adj" fmla="val 2609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02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Assumed request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2624328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 input tokens  ×  $0.15 / 1,000,000   =   $0.00045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2688" y="3319272"/>
            <a:ext cx="9966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700 output tokens   ×  $0.60 / 1,000,000   =   $0.00042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0120" y="4087368"/>
            <a:ext cx="9875520" cy="0"/>
          </a:xfrm>
          <a:prstGeom prst="line">
            <a:avLst/>
          </a:prstGeom>
          <a:noFill/>
          <a:ln w="12700">
            <a:solidFill>
              <a:srgbClr val="5670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42569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TOTAL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092440" y="43616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5B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$0.00087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58952" y="60807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only; excludes possible enterprise fees and special billing treatment.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these AI environment variables exist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76656" y="1737360"/>
            <a:ext cx="10789920" cy="960120"/>
          </a:xfrm>
          <a:prstGeom prst="roundRect">
            <a:avLst>
              <a:gd name="adj" fmla="val 11429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4937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AI_INPUT_USD_PER_1M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demo estimate: 0.15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6656" y="2980944"/>
            <a:ext cx="10789920" cy="960120"/>
          </a:xfrm>
          <a:prstGeom prst="roundRect">
            <a:avLst>
              <a:gd name="adj" fmla="val 11429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63824"/>
            <a:ext cx="4937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AI_OUTPUT_USD_PER_1M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0" y="3163824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demo estimate: 0.60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76656" y="4224528"/>
            <a:ext cx="10789920" cy="960120"/>
          </a:xfrm>
          <a:prstGeom prst="roundRect">
            <a:avLst>
              <a:gd name="adj" fmla="val 11429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07408"/>
            <a:ext cx="4937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AI_MONTHLY_BUDGET_USD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4407408"/>
            <a:ext cx="4663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local budget: 10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574243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read by Python at runtime; changing GENAI_MODEL alone does not retrieve or change pricing.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metering, caching and budget guardrails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64592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API-reported input/output tokens when available; estimates otherwise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245973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33172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USD using configured per-million-token rates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314553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301752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usage and estimated cost in ai_usage.sqlite3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13232" y="383133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70332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cached AI responses for identical requests without a new API call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13232" y="451713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438912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configured monthly spending and send threshold alerts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520293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507492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local AI budget as a best-effort app control, not provider-side cap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deployment and transfer to another laptop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394960" cy="3538728"/>
          </a:xfrm>
          <a:prstGeom prst="roundRect">
            <a:avLst>
              <a:gd name="adj" fmla="val 3101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691640"/>
            <a:ext cx="54864" cy="3538728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8745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components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404872"/>
            <a:ext cx="495604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app.py + requirements.txt; virtual environment on destination; optional .streamlit/config.toml; copy SQLite files for historical state.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376672" cy="3538728"/>
          </a:xfrm>
          <a:prstGeom prst="roundRect">
            <a:avLst>
              <a:gd name="adj" fmla="val 3101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91640"/>
            <a:ext cx="54864" cy="3538728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87452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configuration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91656" y="2404872"/>
            <a:ext cx="493776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GENAI_* endpoint, key and deployment; AI_* cost settings; SMTP_HOST, PORT, SECURITY, USERNAME, FROM and secure App Password.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568756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include passwords or API keys in presentation files, source code, or database copies. Shut down app before copying SQLite.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demo vs. production?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789920" cy="621792"/>
          </a:xfrm>
          <a:prstGeom prst="roundRect">
            <a:avLst>
              <a:gd name="adj" fmla="val 17647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47088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invoices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74336" y="18470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1847088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AWS/GCP billing connectors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16768" y="184708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487168"/>
            <a:ext cx="10789920" cy="621792"/>
          </a:xfrm>
          <a:prstGeom prst="roundRect">
            <a:avLst>
              <a:gd name="adj" fmla="val 17647"/>
            </a:avLst>
          </a:prstGeom>
          <a:solidFill>
            <a:srgbClr val="1C2D49"/>
          </a:solidFill>
          <a:ln w="12700">
            <a:solidFill>
              <a:srgbClr val="1C2D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624328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synthetic cost forecast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74336" y="26243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624328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Metered provider costs &amp; validation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16768" y="262432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264408"/>
            <a:ext cx="10789920" cy="621792"/>
          </a:xfrm>
          <a:prstGeom prst="roundRect">
            <a:avLst>
              <a:gd name="adj" fmla="val 17647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401568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analysis on user action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74336" y="34015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401568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workflow approvals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16768" y="340156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041648"/>
            <a:ext cx="10789920" cy="621792"/>
          </a:xfrm>
          <a:prstGeom prst="roundRect">
            <a:avLst>
              <a:gd name="adj" fmla="val 17647"/>
            </a:avLst>
          </a:prstGeom>
          <a:solidFill>
            <a:srgbClr val="1C2D49"/>
          </a:solidFill>
          <a:ln w="12700">
            <a:solidFill>
              <a:srgbClr val="1C2D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178808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instance-rate catalog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74336" y="41788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4178808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cloud SKU and pricing sync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16768" y="417880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818888"/>
            <a:ext cx="10789920" cy="621792"/>
          </a:xfrm>
          <a:prstGeom prst="roundRect">
            <a:avLst>
              <a:gd name="adj" fmla="val 17647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4956048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state and SMTP alerts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74336" y="49560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BE3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4956048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database + scheduled workers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716768" y="4956048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C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roadmap: next 3 phases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3504" y="1673352"/>
            <a:ext cx="3675888" cy="4069080"/>
          </a:xfrm>
          <a:prstGeom prst="roundRect">
            <a:avLst>
              <a:gd name="adj" fmla="val 2985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673352"/>
            <a:ext cx="54864" cy="4069080"/>
          </a:xfrm>
          <a:prstGeom prst="rect">
            <a:avLst/>
          </a:prstGeom>
          <a:solidFill>
            <a:srgbClr val="5BE3B1"/>
          </a:solidFill>
          <a:ln w="12700">
            <a:solidFill>
              <a:srgbClr val="5BE3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56232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· Connect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2386584"/>
            <a:ext cx="323697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Cost Explorer + CUR; GCP Billing Export; live inventory; pricing/catalog sync; model rate-card mapping; anomaly baselines.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1673352"/>
            <a:ext cx="3474720" cy="4069080"/>
          </a:xfrm>
          <a:prstGeom prst="roundRect">
            <a:avLst>
              <a:gd name="adj" fmla="val 3158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673352"/>
            <a:ext cx="54864" cy="406908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8562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· Operate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54296" y="2386584"/>
            <a:ext cx="303580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refresh + alerts; SSO/RBAC; PostgreSQL; multi-tenant cost centers; observability; verified savings feedback.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65008" y="1673352"/>
            <a:ext cx="3474720" cy="4069080"/>
          </a:xfrm>
          <a:prstGeom prst="roundRect">
            <a:avLst>
              <a:gd name="adj" fmla="val 3158"/>
            </a:avLst>
          </a:prstGeom>
          <a:solidFill>
            <a:srgbClr val="14213A"/>
          </a:solidFill>
          <a:ln w="12700">
            <a:solidFill>
              <a:srgbClr val="1421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1673352"/>
            <a:ext cx="54864" cy="406908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185623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· Optimize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84464" y="2386584"/>
            <a:ext cx="303580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Rightsizing from metrics; commitments / reservations; explainable optimization; Terraform plan proposals; approval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differentiators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77393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645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decision flow: visibility → forecast → AI recommendation → what-if validation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3232" y="2468880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3408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historical evidence instead of unsupported AI-created financial numbers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3232" y="3163824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30358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Traffic-capacity guardrails alongside cost reduction opportunities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3232" y="385876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7307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monitoring of AI operating cost from cloud infrastructure spend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" y="4553712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442569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Human-approved automation path: recommendations before changes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13232" y="524865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Vendor-neutral architecture with future AWS/GCP extensibility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demo: suggested walkthrough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16550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 Set department, cloud provider and reporting period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244144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231343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 Show period-aware budget, cost trends and forecast evidence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309981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 Generate AI analysis; explain response versus Python calculations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13232" y="3758184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6301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 Select an optimization; run future cost + traffic What-If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13232" y="4416552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42885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 Open AI token monitor; show cached vs fresh request behavior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5074920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49469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 Show alert configuration and explain SMTP / SQLite persistence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13232" y="573328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56052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 Finish with roadmap and known production gaps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4D5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References, assumptions and next decisions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1137392" cy="0"/>
          </a:xfrm>
          <a:prstGeom prst="line">
            <a:avLst/>
          </a:prstGeom>
          <a:noFill/>
          <a:ln w="12700">
            <a:solidFill>
              <a:srgbClr val="34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01984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FC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MULTICLOUD FINOPS AI  •  OCT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77393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64592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GPT-4o Mini pricing: developers.openai.com/api/docs/models/gpt-4o-mini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2487168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35915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GPT-4o Mini global pricing announcement: azure.microsoft.com/en-us/blog/openais-fastest-model-gpt-4o-mini-is-now-available-on-azure-ai/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3200400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072384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public reference: $0.15 input / $0.075 cached input / $0.60 output per 1M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3913632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785616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MaaS contracted pricing: not independently available; obtain internal rate card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4626864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498848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exact GPT-4o Mini deployment ID; retire legacy GPT-3.5 example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5340096"/>
            <a:ext cx="91440" cy="91440"/>
          </a:xfrm>
          <a:prstGeom prst="ellipse">
            <a:avLst/>
          </a:prstGeom>
          <a:solidFill>
            <a:srgbClr val="44D5E7"/>
          </a:solidFill>
          <a:ln w="12700">
            <a:solidFill>
              <a:srgbClr val="44D5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521208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6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engineering decision: integrate live cloud billing sources and rate validation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Multicloud FinOps AI | Project Review</dc:title>
  <dc:subject>Multicloud FinOps AI demo and roadmap</dc:subject>
  <dc:creator>OpenAI</dc:creator>
  <cp:lastModifiedBy>OpenAI</cp:lastModifiedBy>
  <cp:revision>1</cp:revision>
  <dcterms:created xsi:type="dcterms:W3CDTF">2026-10-18T00:37:50Z</dcterms:created>
  <dcterms:modified xsi:type="dcterms:W3CDTF">2026-10-18T00:37:50Z</dcterms:modified>
</cp:coreProperties>
</file>